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8" r:id="rId6"/>
    <p:sldId id="261" r:id="rId7"/>
    <p:sldId id="262" r:id="rId8"/>
    <p:sldId id="263" r:id="rId9"/>
    <p:sldId id="267" r:id="rId10"/>
    <p:sldId id="264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79F5F-68F7-40CE-BB13-42C877D62A61}" v="333" dt="2025-06-23T07:31:41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7" autoAdjust="0"/>
    <p:restoredTop sz="94689"/>
  </p:normalViewPr>
  <p:slideViewPr>
    <p:cSldViewPr snapToGrid="0">
      <p:cViewPr varScale="1">
        <p:scale>
          <a:sx n="190" d="100"/>
          <a:sy n="190" d="100"/>
        </p:scale>
        <p:origin x="23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BEE5C-B9EE-40BB-9085-96DEBCACCAC2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F291-33CC-4E16-AE23-B5461E73C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0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9F291-33CC-4E16-AE23-B5461E73C08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195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9F291-33CC-4E16-AE23-B5461E73C08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447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9AA6-5AB7-74C5-38CA-8B13C75F8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658AC-2383-8ACE-D25A-B2667ADA1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997D-0320-A26B-C29B-BBF6394C7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DDB42-EEFA-8091-8594-9D26642F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864F0-8B0C-C4CC-6B64-7A88B402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03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A30A-407B-2358-3281-7B85A556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3CBD-6216-2273-EB85-98006CD0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EE816-52D5-AEC2-412F-0AD86040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23F5A-030D-F31B-A119-A561B81C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91312-1D86-2282-7E75-599F6EAF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03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A6E5-A7A9-580B-080C-9568E7E1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68B6-4F15-52C5-B5FD-2DF3FCC10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0CF7-6BFA-F4FD-9F5A-4BFAF51C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D44F-2055-53FC-0BB9-24D87B6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0E8E-627A-A6EC-3A16-BBEBACD6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7A1D-998F-5DC7-A7D2-B0E00424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7D7-C701-0F48-6227-13821971D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2BDA5-7400-5AF5-C977-59631A0EF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7A9ED-F82D-7F2C-B81A-E7034055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D4BFE-3849-4052-C215-B8EC471F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E43B-6BB2-E757-78AD-80782C2F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68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EFC5-021B-A711-E12D-635303E33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417E-1F01-2EBF-8497-E820A864C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DB1C3-3B14-8FE7-9527-6ACCE3A49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2FD72-3F3B-7695-1EB4-1FFB11E42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25772-ED14-D1FC-4522-40D78D888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DA18C-0819-04F7-F3AB-D4F5ABAB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9E079-E06B-61EF-2751-94A22D38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6BB17-5704-07E3-33BD-D666728B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899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CD58-2FA1-0B37-79B8-9C64332E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BD201-6DFA-A1B6-17FF-419758E53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15B38-F9E9-758E-6175-AA8E0F60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52CC9-6A3A-C39F-12B2-3346C6FE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EC55A-8DC2-1014-96F8-64239EAA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53703-9A1B-AFD7-B3EB-D64EBB5A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8849-B271-E5F7-5359-68C2E2E6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62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BEAB-5B9B-D91C-BCBF-82DA51E05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1754-4A80-2111-2E52-311E20FC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CDB15-751D-564F-9AFF-30132207F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769E9-6946-FEA1-4492-3F9BA46B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301BC-0375-2D55-D9A8-3395AE73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282DC-C769-EBB4-FDB6-F2C7A962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22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D724-A55D-244C-17BC-A855BDE4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AD6DC-1D61-1390-188C-C632B4D10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BEE0E-6673-7AD3-48A5-8E89C7FC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CDDC5-725E-09F9-DC1C-8FD46707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35278-318B-B973-51E7-7C605153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6612A-7B94-DB1E-20A7-69C8D518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57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FAD4-5D01-1FEA-7C21-91FAD7D9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B520D-5967-D5D2-FA71-33DDCCD95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7D6DA-BFBE-4DE4-6857-B680D66C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9C060-D73A-CEC9-85EA-47E367B5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13B7-4621-054C-E1FD-E959BBD4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62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6F639-616A-3559-273C-D4E2181D3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11C64-E4E3-A8E9-00DF-F80BB3C5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6C992-8F67-FB25-FC66-2FD2C520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1EC6-A24D-F0CF-39CF-6A8FD719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D6084-DC63-DB9E-43FE-AF9A2DD3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35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1">
                <a:lumMod val="85000"/>
              </a:schemeClr>
            </a:gs>
            <a:gs pos="68000">
              <a:schemeClr val="accent2">
                <a:lumMod val="60000"/>
                <a:lumOff val="40000"/>
              </a:schemeClr>
            </a:gs>
            <a:gs pos="100000">
              <a:schemeClr val="accent4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7849F-B6E0-DAFC-898F-60CEE6DB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CB913-AA6E-88D3-CD4F-63AA82706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9D3C3-E58B-AA67-3BBB-CDDF052DC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6E31-FA34-3D5E-E129-46B869360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FC751-2513-DD46-D6C9-FF8BD37D6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triangle shaped object with a black background&#10;&#10;AI-generated content may be incorrect.">
            <a:extLst>
              <a:ext uri="{FF2B5EF4-FFF2-40B4-BE49-F238E27FC236}">
                <a16:creationId xmlns:a16="http://schemas.microsoft.com/office/drawing/2014/main" id="{1179AFDA-B61D-48F3-DA56-1BAA4DA1764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604" y="4936207"/>
            <a:ext cx="1006391" cy="124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8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sl/insta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code.visualstudio.com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de.visualstudio.com/docs/remote/ws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veripool.org/verilato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tkwave.sourceforge.ne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surfer-project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cocotb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jectapheleia/avl" TargetMode="External"/><Relationship Id="rId7" Type="http://schemas.openxmlformats.org/officeDocument/2006/relationships/hyperlink" Target="https://avl-core.readthedocs.io/en/latest/index.html" TargetMode="External"/><Relationship Id="rId2" Type="http://schemas.openxmlformats.org/officeDocument/2006/relationships/hyperlink" Target="https://github.com/projectaphele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rojectapheleia/avl-axi-stream" TargetMode="External"/><Relationship Id="rId5" Type="http://schemas.openxmlformats.org/officeDocument/2006/relationships/hyperlink" Target="https://github.com/projectapheleia/avl-axi" TargetMode="External"/><Relationship Id="rId4" Type="http://schemas.openxmlformats.org/officeDocument/2006/relationships/hyperlink" Target="https://github.com/projectapheleia/avl-ap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jectapheleia/avl-tutorials" TargetMode="External"/><Relationship Id="rId2" Type="http://schemas.openxmlformats.org/officeDocument/2006/relationships/hyperlink" Target="https://github.com/projectaphelei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A94E-2731-5390-D13A-AA6E52D24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Getting Started With Open-Source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066C7-9BFC-76F1-B992-64866E1170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948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544A-D044-3D43-C46E-B7CCB814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 and 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DA1DE-1807-EE8A-4245-6170745A2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Demos are designed to be fully Open-Source</a:t>
            </a:r>
          </a:p>
          <a:p>
            <a:r>
              <a:rPr lang="en-GB" dirty="0"/>
              <a:t>They can be run on any mid-level PC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DA048-6A73-B053-2EBA-9B8D126F5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504" y="3146361"/>
            <a:ext cx="4230991" cy="30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1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E788-4264-8F7E-E284-144B771C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BE1D-47C2-B5D2-C1B1-90A89D8A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16069"/>
          </a:xfrm>
        </p:spPr>
        <p:txBody>
          <a:bodyPr/>
          <a:lstStyle/>
          <a:p>
            <a:r>
              <a:rPr lang="en-GB" dirty="0"/>
              <a:t>This tutorial has been developed on Ubuntu running on a windows laptop under </a:t>
            </a:r>
            <a:r>
              <a:rPr lang="en-GB" dirty="0">
                <a:hlinkClick r:id="rId3"/>
              </a:rPr>
              <a:t>WSL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1D287-B16D-9FFE-7CE8-4DC51F5CE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261" y="3029608"/>
            <a:ext cx="5687219" cy="97168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593531-1C59-24B1-08FA-84427909524E}"/>
              </a:ext>
            </a:extLst>
          </p:cNvPr>
          <p:cNvSpPr txBox="1">
            <a:spLocks/>
          </p:cNvSpPr>
          <p:nvPr/>
        </p:nvSpPr>
        <p:spPr>
          <a:xfrm>
            <a:off x="838200" y="4187642"/>
            <a:ext cx="10515600" cy="231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demos are run under </a:t>
            </a:r>
            <a:r>
              <a:rPr lang="en-GB" dirty="0">
                <a:hlinkClick r:id="rId5"/>
              </a:rPr>
              <a:t>VSCode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4FDE3F-0AE8-6B0B-134B-E963A36BE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7153" y="4718927"/>
            <a:ext cx="8017693" cy="200116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3ED2C9A-115E-1F83-2C78-0F9942F63828}"/>
              </a:ext>
            </a:extLst>
          </p:cNvPr>
          <p:cNvSpPr/>
          <p:nvPr/>
        </p:nvSpPr>
        <p:spPr>
          <a:xfrm>
            <a:off x="9169400" y="4597400"/>
            <a:ext cx="977900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9170A7-D558-F6A9-834A-86A07A3F8E73}"/>
              </a:ext>
            </a:extLst>
          </p:cNvPr>
          <p:cNvSpPr/>
          <p:nvPr/>
        </p:nvSpPr>
        <p:spPr>
          <a:xfrm>
            <a:off x="4540250" y="6053738"/>
            <a:ext cx="1924050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8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CC24-A704-D9BF-640B-1CC6F1BE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D54A8-7E9C-C2AB-FFEB-C91BE476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0140" cy="1873226"/>
          </a:xfrm>
        </p:spPr>
        <p:txBody>
          <a:bodyPr/>
          <a:lstStyle/>
          <a:p>
            <a:r>
              <a:rPr lang="en-GB" dirty="0"/>
              <a:t>Using VSCode with WSL</a:t>
            </a:r>
          </a:p>
          <a:p>
            <a:pPr lvl="1"/>
            <a:r>
              <a:rPr lang="en-GB" sz="2000" dirty="0"/>
              <a:t>https://</a:t>
            </a:r>
            <a:r>
              <a:rPr lang="en-GB" sz="2000" dirty="0" err="1"/>
              <a:t>code.visualstudio.com</a:t>
            </a:r>
            <a:r>
              <a:rPr lang="en-GB" sz="2000" dirty="0"/>
              <a:t>/docs/setup/windows</a:t>
            </a:r>
          </a:p>
          <a:p>
            <a:pPr lvl="1"/>
            <a:r>
              <a:rPr lang="en-GB" sz="2000" dirty="0">
                <a:hlinkClick r:id="rId2"/>
              </a:rPr>
              <a:t>https://code.visualstudio.com/docs/remote/wsl</a:t>
            </a:r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2FC1D8-25EE-CA24-CF1C-156118C01DEF}"/>
              </a:ext>
            </a:extLst>
          </p:cNvPr>
          <p:cNvSpPr txBox="1">
            <a:spLocks/>
          </p:cNvSpPr>
          <p:nvPr/>
        </p:nvSpPr>
        <p:spPr>
          <a:xfrm>
            <a:off x="838200" y="4192719"/>
            <a:ext cx="7020140" cy="1984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Using </a:t>
            </a:r>
            <a:r>
              <a:rPr lang="en-GB" dirty="0" err="1"/>
              <a:t>VSCode</a:t>
            </a:r>
            <a:r>
              <a:rPr lang="en-GB" dirty="0"/>
              <a:t> on MacOS</a:t>
            </a:r>
          </a:p>
          <a:p>
            <a:pPr lvl="1"/>
            <a:r>
              <a:rPr lang="en-GB" sz="2000" dirty="0"/>
              <a:t>https://</a:t>
            </a:r>
            <a:r>
              <a:rPr lang="en-GB" sz="2000" dirty="0" err="1"/>
              <a:t>code.visualstudio.com</a:t>
            </a:r>
            <a:r>
              <a:rPr lang="en-GB" sz="2000" dirty="0"/>
              <a:t>/docs/setup/mac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500C2-A2C2-5937-99DA-8FC059457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628" y="2622551"/>
            <a:ext cx="1763363" cy="21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4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02E8-3D4B-DC62-805A-A7613FEF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CCDA-F537-C90A-49CA-11F52B19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DAC7A-DA2C-E113-8922-A1BEC957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948" y="1690688"/>
            <a:ext cx="1768595" cy="179282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F40094-BF67-2F85-AC3B-8DF5528FD67C}"/>
              </a:ext>
            </a:extLst>
          </p:cNvPr>
          <p:cNvSpPr txBox="1">
            <a:spLocks/>
          </p:cNvSpPr>
          <p:nvPr/>
        </p:nvSpPr>
        <p:spPr>
          <a:xfrm>
            <a:off x="939053" y="1690688"/>
            <a:ext cx="7020140" cy="1984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 a better editor experience Python, </a:t>
            </a:r>
            <a:r>
              <a:rPr lang="en-GB" dirty="0" err="1"/>
              <a:t>SystemVerilog</a:t>
            </a:r>
            <a:r>
              <a:rPr lang="en-GB" dirty="0"/>
              <a:t> and Browser extensions are added to VSCode</a:t>
            </a:r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9BCE1A-2E32-2BC4-8BE6-D7EE7915C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948" y="3801989"/>
            <a:ext cx="1768595" cy="46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1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2243-8444-DF48-6881-A2ABAB26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AAB6-C3FB-0D1D-8E9F-75CB55A02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examples are run using </a:t>
            </a:r>
            <a:r>
              <a:rPr lang="en-GB" dirty="0">
                <a:hlinkClick r:id="rId2"/>
              </a:rPr>
              <a:t>Verilator</a:t>
            </a:r>
            <a:endParaRPr lang="en-GB" dirty="0"/>
          </a:p>
          <a:p>
            <a:r>
              <a:rPr lang="en-GB" dirty="0"/>
              <a:t>AVL requires a new version installed directly from Git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F7185-36F6-EBC2-3E9F-83E2571AF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3" y="3085535"/>
            <a:ext cx="4446494" cy="35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3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9422-0663-79B8-0FFF-A0FDD579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E2EBF-59AD-2B47-935F-19754778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Waveforms can be viewed using </a:t>
            </a:r>
            <a:r>
              <a:rPr lang="en-GB" dirty="0" err="1">
                <a:hlinkClick r:id="rId2"/>
              </a:rPr>
              <a:t>GTKWave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3B4F9-9CCE-E53A-8701-CE21318E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86" y="2506661"/>
            <a:ext cx="4206828" cy="404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1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7C78-97C2-3DA5-2CDF-9FC022EC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6EA4-1AF8-291F-B434-2090CBAB9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However, </a:t>
            </a:r>
            <a:r>
              <a:rPr lang="en-GB" dirty="0">
                <a:hlinkClick r:id="rId2"/>
              </a:rPr>
              <a:t>Surfer</a:t>
            </a:r>
            <a:r>
              <a:rPr lang="en-GB" dirty="0"/>
              <a:t> is a preferred Waveform viewer with VSCode integration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664AA-A02C-CCC6-ABE1-886E8A41C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919" y="3581349"/>
            <a:ext cx="277216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7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60E4-45C2-AE77-E77F-6DFF082C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28F8-7120-924F-BAF1-53EBA80F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9153-45FD-83EB-6C32-34E751653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Testbenches are designed using </a:t>
            </a:r>
            <a:r>
              <a:rPr lang="en-GB" dirty="0">
                <a:hlinkClick r:id="rId2"/>
              </a:rPr>
              <a:t>Cocotb</a:t>
            </a:r>
            <a:endParaRPr lang="en-GB" dirty="0"/>
          </a:p>
        </p:txBody>
      </p:sp>
      <p:pic>
        <p:nvPicPr>
          <p:cNvPr id="1026" name="Picture 2" descr="cocotb | Python verification framework">
            <a:extLst>
              <a:ext uri="{FF2B5EF4-FFF2-40B4-BE49-F238E27FC236}">
                <a16:creationId xmlns:a16="http://schemas.microsoft.com/office/drawing/2014/main" id="{4D270351-76D6-1C2F-3A69-54161F782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00" y="3515285"/>
            <a:ext cx="45466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90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595-ADCA-88D5-3991-AB3E0479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FA28-B675-167B-55A4-BB3BBCDA5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AVL is on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https://github.com/projectapheleia/avl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https://github.com/projectapheleia/avl-apb</a:t>
            </a:r>
            <a:endParaRPr lang="en-GB" dirty="0"/>
          </a:p>
          <a:p>
            <a:pPr lvl="1"/>
            <a:r>
              <a:rPr lang="en-GB" dirty="0">
                <a:hlinkClick r:id="rId5"/>
              </a:rPr>
              <a:t>https://github.com/projectapheleia/avl-axi</a:t>
            </a:r>
            <a:endParaRPr lang="en-GB" dirty="0"/>
          </a:p>
          <a:p>
            <a:pPr lvl="1"/>
            <a:r>
              <a:rPr lang="en-GB" dirty="0">
                <a:hlinkClick r:id="rId6"/>
              </a:rPr>
              <a:t>https://github.com/projectapheleia/avl-axi-stream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Full AVL documentation is available on </a:t>
            </a:r>
            <a:r>
              <a:rPr lang="en-GB" dirty="0" err="1"/>
              <a:t>ReadTheDocs</a:t>
            </a:r>
            <a:endParaRPr lang="en-GB" dirty="0"/>
          </a:p>
          <a:p>
            <a:pPr lvl="1"/>
            <a:r>
              <a:rPr lang="en-GB" dirty="0">
                <a:hlinkClick r:id="rId7"/>
              </a:rPr>
              <a:t>https://avl-core.readthedocs.io/en/latest/index.html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50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CD26-572E-7312-46A9-6A7AAF13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6EE0-6BEF-46DC-7861-61088B53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528CE-7605-E7CB-E61E-9E820CD6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AVL Tutorials are on </a:t>
            </a:r>
            <a:r>
              <a:rPr lang="en-GB" dirty="0">
                <a:hlinkClick r:id="rId2"/>
              </a:rPr>
              <a:t>GitHub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https://github.com/projectapheleia/avl-tutorials</a:t>
            </a:r>
            <a:endParaRPr lang="en-GB" dirty="0"/>
          </a:p>
          <a:p>
            <a:pPr lvl="1"/>
            <a:r>
              <a:rPr lang="en-GB" dirty="0"/>
              <a:t>This will install all other AVL libraries required</a:t>
            </a:r>
          </a:p>
        </p:txBody>
      </p:sp>
    </p:spTree>
    <p:extLst>
      <p:ext uri="{BB962C8B-B14F-4D97-AF65-F5344CB8AC3E}">
        <p14:creationId xmlns:p14="http://schemas.microsoft.com/office/powerpoint/2010/main" val="118227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21235C-9506-BA35-5440-32EB8150759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832100" y="1253331"/>
            <a:ext cx="6527800" cy="435133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532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5AB7FE4B-CE97-4E74-9771-C3FDE9C05F2F}" vid="{630D9976-BEC0-4EFC-B7E0-607FFAF123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838ba7-c38c-416d-a793-1de07a190ebd}" enabled="0" method="" siteId="{9c838ba7-c38c-416d-a793-1de07a190eb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apheleia_template</Template>
  <TotalTime>504</TotalTime>
  <Words>237</Words>
  <Application>Microsoft Macintosh PowerPoint</Application>
  <PresentationFormat>Widescreen</PresentationFormat>
  <Paragraphs>41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Verdana</vt:lpstr>
      <vt:lpstr>Office Theme</vt:lpstr>
      <vt:lpstr>Getting Started With Open-Source Verification</vt:lpstr>
      <vt:lpstr>Setup and Prerequisites</vt:lpstr>
      <vt:lpstr>Setup</vt:lpstr>
      <vt:lpstr>Setup</vt:lpstr>
      <vt:lpstr>Setup</vt:lpstr>
      <vt:lpstr>Setup</vt:lpstr>
      <vt:lpstr>Setup</vt:lpstr>
      <vt:lpstr>Setup</vt:lpstr>
      <vt:lpstr>Setup</vt:lpstr>
      <vt:lpstr>Setup</vt:lpstr>
      <vt:lpstr>Setup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Bond</dc:creator>
  <cp:lastModifiedBy>Andy Bond</cp:lastModifiedBy>
  <cp:revision>3</cp:revision>
  <dcterms:created xsi:type="dcterms:W3CDTF">2025-06-21T09:09:29Z</dcterms:created>
  <dcterms:modified xsi:type="dcterms:W3CDTF">2026-01-27T13:12:24Z</dcterms:modified>
</cp:coreProperties>
</file>