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39" r:id="rId3"/>
    <p:sldId id="340" r:id="rId4"/>
    <p:sldId id="341" r:id="rId5"/>
    <p:sldId id="342" r:id="rId6"/>
    <p:sldId id="343" r:id="rId7"/>
    <p:sldId id="331" r:id="rId8"/>
    <p:sldId id="288" r:id="rId9"/>
    <p:sldId id="289" r:id="rId10"/>
    <p:sldId id="290" r:id="rId11"/>
    <p:sldId id="291" r:id="rId12"/>
    <p:sldId id="332" r:id="rId13"/>
    <p:sldId id="333" r:id="rId14"/>
    <p:sldId id="294" r:id="rId15"/>
    <p:sldId id="295" r:id="rId16"/>
    <p:sldId id="296" r:id="rId17"/>
    <p:sldId id="297" r:id="rId18"/>
    <p:sldId id="298" r:id="rId19"/>
    <p:sldId id="299" r:id="rId20"/>
    <p:sldId id="302" r:id="rId21"/>
    <p:sldId id="301" r:id="rId22"/>
    <p:sldId id="300" r:id="rId23"/>
    <p:sldId id="304" r:id="rId24"/>
    <p:sldId id="305" r:id="rId25"/>
    <p:sldId id="306" r:id="rId26"/>
    <p:sldId id="307" r:id="rId27"/>
    <p:sldId id="334" r:id="rId28"/>
    <p:sldId id="335" r:id="rId29"/>
    <p:sldId id="308" r:id="rId30"/>
    <p:sldId id="336" r:id="rId31"/>
    <p:sldId id="311" r:id="rId32"/>
    <p:sldId id="312" r:id="rId33"/>
    <p:sldId id="313" r:id="rId34"/>
    <p:sldId id="314" r:id="rId35"/>
    <p:sldId id="337" r:id="rId36"/>
    <p:sldId id="338" r:id="rId37"/>
    <p:sldId id="286" r:id="rId38"/>
    <p:sldId id="28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9D1E7-4AE1-2E46-BB44-45AB21E67C87}" v="16" dt="2025-12-11T09:01:15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73" autoAdjust="0"/>
    <p:restoredTop sz="94689"/>
  </p:normalViewPr>
  <p:slideViewPr>
    <p:cSldViewPr snapToGrid="0">
      <p:cViewPr varScale="1">
        <p:scale>
          <a:sx n="190" d="100"/>
          <a:sy n="190" d="100"/>
        </p:scale>
        <p:origin x="23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BEE5C-B9EE-40BB-9085-96DEBCACCAC2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9F291-33CC-4E16-AE23-B5461E73C0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60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9AA6-5AB7-74C5-38CA-8B13C75F8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658AC-2383-8ACE-D25A-B2667ADA1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997D-0320-A26B-C29B-BBF6394C7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DDB42-EEFA-8091-8594-9D26642F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864F0-8B0C-C4CC-6B64-7A88B402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038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A30A-407B-2358-3281-7B85A556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3CBD-6216-2273-EB85-98006CD0A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EE816-52D5-AEC2-412F-0AD86040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23F5A-030D-F31B-A119-A561B81C5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91312-1D86-2282-7E75-599F6EAF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03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9A6E5-A7A9-580B-080C-9568E7E1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068B6-4F15-52C5-B5FD-2DF3FCC10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0CF7-6BFA-F4FD-9F5A-4BFAF51C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D44F-2055-53FC-0BB9-24D87B60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0E8E-627A-A6EC-3A16-BBEBACD6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5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7A1D-998F-5DC7-A7D2-B0E00424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7D7-C701-0F48-6227-13821971D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2BDA5-7400-5AF5-C977-59631A0EF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7A9ED-F82D-7F2C-B81A-E7034055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D4BFE-3849-4052-C215-B8EC471F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E43B-6BB2-E757-78AD-80782C2F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68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3EFC5-021B-A711-E12D-635303E33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417E-1F01-2EBF-8497-E820A864C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DB1C3-3B14-8FE7-9527-6ACCE3A49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2FD72-3F3B-7695-1EB4-1FFB11E42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25772-ED14-D1FC-4522-40D78D888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DA18C-0819-04F7-F3AB-D4F5ABAB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9E079-E06B-61EF-2751-94A22D38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6BB17-5704-07E3-33BD-D666728B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899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CD58-2FA1-0B37-79B8-9C64332E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BD201-6DFA-A1B6-17FF-419758E53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15B38-F9E9-758E-6175-AA8E0F60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52CC9-6A3A-C39F-12B2-3346C6FE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EC55A-8DC2-1014-96F8-64239EAA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53703-9A1B-AFD7-B3EB-D64EBB5A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58849-B271-E5F7-5359-68C2E2E6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62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BEAB-5B9B-D91C-BCBF-82DA51E05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1754-4A80-2111-2E52-311E20FCC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CDB15-751D-564F-9AFF-30132207F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769E9-6946-FEA1-4492-3F9BA46B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301BC-0375-2D55-D9A8-3395AE73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282DC-C769-EBB4-FDB6-F2C7A962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22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D724-A55D-244C-17BC-A855BDE4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AD6DC-1D61-1390-188C-C632B4D10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BEE0E-6673-7AD3-48A5-8E89C7FCA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CDDC5-725E-09F9-DC1C-8FD46707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35278-318B-B973-51E7-7C605153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6612A-7B94-DB1E-20A7-69C8D518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57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FAD4-5D01-1FEA-7C21-91FAD7D9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B520D-5967-D5D2-FA71-33DDCCD95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7D6DA-BFBE-4DE4-6857-B680D66C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9C060-D73A-CEC9-85EA-47E367B5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13B7-4621-054C-E1FD-E959BBD4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62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6F639-616A-3559-273C-D4E2181D3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11C64-E4E3-A8E9-00DF-F80BB3C5F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6C992-8F67-FB25-FC66-2FD2C520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1EC6-A24D-F0CF-39CF-6A8FD719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D6084-DC63-DB9E-43FE-AF9A2DD3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35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bg1">
                <a:lumMod val="85000"/>
              </a:schemeClr>
            </a:gs>
            <a:gs pos="68000">
              <a:schemeClr val="accent2">
                <a:lumMod val="60000"/>
                <a:lumOff val="40000"/>
              </a:schemeClr>
            </a:gs>
            <a:gs pos="100000">
              <a:schemeClr val="accent4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7849F-B6E0-DAFC-898F-60CEE6DB3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CB913-AA6E-88D3-CD4F-63AA82706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9D3C3-E58B-AA67-3BBB-CDDF052DC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0562B-B86F-493D-89E0-15355DCBE66A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6E31-FA34-3D5E-E129-46B869360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FC751-2513-DD46-D6C9-FF8BD37D6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2E5A1-0BCA-4FEA-AB6F-9C2B8B9C069C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triangle shaped object with a black background&#10;&#10;AI-generated content may be incorrect.">
            <a:extLst>
              <a:ext uri="{FF2B5EF4-FFF2-40B4-BE49-F238E27FC236}">
                <a16:creationId xmlns:a16="http://schemas.microsoft.com/office/drawing/2014/main" id="{1179AFDA-B61D-48F3-DA56-1BAA4DA1764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604" y="4936207"/>
            <a:ext cx="1006391" cy="124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8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jectapheleia/avl-tutorial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vl-core.readthedocs.io/en/latest/methodology/env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vl-core.readthedocs.io/en/latest/index.html" TargetMode="External"/><Relationship Id="rId2" Type="http://schemas.openxmlformats.org/officeDocument/2006/relationships/hyperlink" Target="https://github.com/projectapheleia/av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A94E-2731-5390-D13A-AA6E52D241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AVL Tutorials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C4891F2-34D6-DBCE-9544-90D5EFDDB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48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0780-57F4-63D9-EE98-1F4D053A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083A4-2369-847A-5633-BB3C285E7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Tutorials are available in GitHub</a:t>
            </a:r>
          </a:p>
          <a:p>
            <a:pPr lvl="1"/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github.com</a:t>
            </a:r>
            <a:r>
              <a:rPr lang="en-GB" dirty="0">
                <a:hlinkClick r:id="rId2"/>
              </a:rPr>
              <a:t>/</a:t>
            </a:r>
            <a:r>
              <a:rPr lang="en-GB" dirty="0" err="1">
                <a:hlinkClick r:id="rId2"/>
              </a:rPr>
              <a:t>projectapheleia</a:t>
            </a:r>
            <a:r>
              <a:rPr lang="en-GB" dirty="0">
                <a:hlinkClick r:id="rId2"/>
              </a:rPr>
              <a:t>/</a:t>
            </a:r>
            <a:r>
              <a:rPr lang="en-GB" dirty="0" err="1">
                <a:hlinkClick r:id="rId2"/>
              </a:rPr>
              <a:t>avl</a:t>
            </a:r>
            <a:r>
              <a:rPr lang="en-GB" dirty="0">
                <a:hlinkClick r:id="rId2"/>
              </a:rPr>
              <a:t>-tutorials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969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856C-D4F5-C8FB-6FEF-AE6E7605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15004-741A-C428-10F2-D425F829C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Simple Tutorials are provided to get users familiar with the basic concepts</a:t>
            </a:r>
          </a:p>
          <a:p>
            <a:pPr lvl="1"/>
            <a:r>
              <a:rPr lang="en-GB" dirty="0"/>
              <a:t>Tutorial 1: Clocks and Reset</a:t>
            </a:r>
          </a:p>
          <a:p>
            <a:pPr lvl="1"/>
            <a:r>
              <a:rPr lang="en-GB" dirty="0"/>
              <a:t>Tutorial 2: Logic Variables</a:t>
            </a:r>
          </a:p>
          <a:p>
            <a:pPr lvl="1"/>
            <a:r>
              <a:rPr lang="en-GB" dirty="0"/>
              <a:t>Tutorial 3: Structs</a:t>
            </a:r>
          </a:p>
          <a:p>
            <a:pPr lvl="1"/>
            <a:r>
              <a:rPr lang="en-GB" dirty="0"/>
              <a:t>Tutorial 4: Logs</a:t>
            </a:r>
          </a:p>
          <a:p>
            <a:pPr lvl="1"/>
            <a:r>
              <a:rPr lang="en-GB" dirty="0"/>
              <a:t>Tutorial 5: Simple Sequence</a:t>
            </a:r>
          </a:p>
        </p:txBody>
      </p:sp>
    </p:spTree>
    <p:extLst>
      <p:ext uri="{BB962C8B-B14F-4D97-AF65-F5344CB8AC3E}">
        <p14:creationId xmlns:p14="http://schemas.microsoft.com/office/powerpoint/2010/main" val="10272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78ED-E58A-9D22-0A07-0123D365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BFBEC-D7CC-7729-42CD-27158869B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tutorials have the same structure</a:t>
            </a:r>
          </a:p>
          <a:p>
            <a:pPr lvl="1"/>
            <a:r>
              <a:rPr lang="en-GB" dirty="0" err="1"/>
              <a:t>README.md</a:t>
            </a:r>
            <a:r>
              <a:rPr lang="en-GB" dirty="0"/>
              <a:t> explaining the steps required to complete the tutorial</a:t>
            </a:r>
          </a:p>
          <a:p>
            <a:pPr lvl="1"/>
            <a:r>
              <a:rPr lang="en-GB" dirty="0"/>
              <a:t>exercise directory</a:t>
            </a:r>
          </a:p>
          <a:p>
            <a:pPr lvl="2"/>
            <a:r>
              <a:rPr lang="en-GB" dirty="0"/>
              <a:t>Template containing TODO comments</a:t>
            </a:r>
          </a:p>
          <a:p>
            <a:pPr lvl="1"/>
            <a:r>
              <a:rPr lang="en-GB" dirty="0"/>
              <a:t>solution directory</a:t>
            </a:r>
          </a:p>
          <a:p>
            <a:pPr lvl="2"/>
            <a:r>
              <a:rPr lang="en-GB" dirty="0"/>
              <a:t>Finished tutorial for reference</a:t>
            </a:r>
          </a:p>
        </p:txBody>
      </p:sp>
    </p:spTree>
    <p:extLst>
      <p:ext uri="{BB962C8B-B14F-4D97-AF65-F5344CB8AC3E}">
        <p14:creationId xmlns:p14="http://schemas.microsoft.com/office/powerpoint/2010/main" val="132538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65BFC-99C1-FF95-CC51-3528942D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D998-6587-5F56-D99E-375F3AFF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Tutorials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14D6-D2DB-6D3B-CCBF-FA530C2E1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tutorials are run in the same way</a:t>
            </a:r>
          </a:p>
          <a:p>
            <a:pPr lvl="1"/>
            <a:r>
              <a:rPr lang="en-GB" dirty="0"/>
              <a:t>cd exercise</a:t>
            </a:r>
          </a:p>
          <a:p>
            <a:pPr lvl="1"/>
            <a:r>
              <a:rPr lang="en-GB" dirty="0"/>
              <a:t>make sim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F145C-3846-FE5E-B582-D890F607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43256"/>
            <a:ext cx="10854677" cy="203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3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132C-A561-5653-66CA-7BB65EA95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76F6-B668-6CCF-A7C3-7947B7F63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Advanced Tutorials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F699B-1F81-C70B-EC25-8E9500680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8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6B1A-20EB-2B7D-CF5C-2063C050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Tutorial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80615-FB59-2FCA-0C06-B58A2CFA6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Simple FIFO</a:t>
            </a:r>
          </a:p>
        </p:txBody>
      </p:sp>
    </p:spTree>
    <p:extLst>
      <p:ext uri="{BB962C8B-B14F-4D97-AF65-F5344CB8AC3E}">
        <p14:creationId xmlns:p14="http://schemas.microsoft.com/office/powerpoint/2010/main" val="2353475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193A9E-03CE-1AFA-46D6-9E4DFD39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Under 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3E510D-122D-0C35-3F80-5BDC91716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The DUT is a simple FIFO</a:t>
            </a:r>
          </a:p>
          <a:p>
            <a:r>
              <a:rPr lang="en-GB" dirty="0"/>
              <a:t>100MHz Clock</a:t>
            </a:r>
          </a:p>
          <a:p>
            <a:r>
              <a:rPr lang="en-GB" dirty="0"/>
              <a:t>Async – active low reset</a:t>
            </a:r>
          </a:p>
          <a:p>
            <a:r>
              <a:rPr lang="en-GB" dirty="0"/>
              <a:t>Width : 8 bits</a:t>
            </a:r>
          </a:p>
          <a:p>
            <a:r>
              <a:rPr lang="en-GB" dirty="0"/>
              <a:t>Depth : 8 entries</a:t>
            </a:r>
          </a:p>
          <a:p>
            <a:r>
              <a:rPr lang="en-GB" dirty="0"/>
              <a:t>Full / Empty indicators</a:t>
            </a:r>
          </a:p>
        </p:txBody>
      </p:sp>
      <p:pic>
        <p:nvPicPr>
          <p:cNvPr id="8" name="Content Placeholder 7" descr="A white rectangular object with arrows&#10;&#10;AI-generated content may be incorrect.">
            <a:extLst>
              <a:ext uri="{FF2B5EF4-FFF2-40B4-BE49-F238E27FC236}">
                <a16:creationId xmlns:a16="http://schemas.microsoft.com/office/drawing/2014/main" id="{1D79B130-E92D-FE85-3F12-47C861347C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729" y="533300"/>
            <a:ext cx="3135603" cy="4351338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BFDBD3-C331-9B98-5331-969FC2A6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347" y="2708969"/>
            <a:ext cx="3882439" cy="2408095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74129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4529-83BC-1907-446E-1A46DB42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221A88-D791-7E9A-9B58-EBE9284D4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14542" cy="353702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Extend the environment to drive the clock and reset signals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Add a timeout (1ms)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Confirm FIFO is empty after reset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AA2A891-942D-220B-7B8A-CFAC133761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52742" y="1990244"/>
            <a:ext cx="4001058" cy="2372056"/>
          </a:xfrm>
          <a:effectLst>
            <a:softEdge rad="3175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408711-07AB-16E0-231B-0A92F3F917C2}"/>
              </a:ext>
            </a:extLst>
          </p:cNvPr>
          <p:cNvSpPr txBox="1"/>
          <p:nvPr/>
        </p:nvSpPr>
        <p:spPr>
          <a:xfrm>
            <a:off x="784698" y="5138983"/>
            <a:ext cx="10622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3"/>
              </a:rPr>
              <a:t>https://avl-core.readthedocs.io/en/latest/methodology/env.html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1131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07CAF7-1B18-95FC-10D4-9CF93B8D7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430" y="365125"/>
            <a:ext cx="6543789" cy="544922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3C6D2B-001D-E150-D590-9FA564169DA8}"/>
              </a:ext>
            </a:extLst>
          </p:cNvPr>
          <p:cNvSpPr/>
          <p:nvPr/>
        </p:nvSpPr>
        <p:spPr>
          <a:xfrm>
            <a:off x="5363430" y="2109551"/>
            <a:ext cx="6543788" cy="370479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F73C41-6662-E83C-F7E8-2DE4C82BA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01" y="4261553"/>
            <a:ext cx="4420217" cy="1552792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D6E11D-51B5-97B8-2A07-06E8D977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4C7DA-54CB-3F23-DAF3-B354C81B56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Register handle to DUT</a:t>
            </a:r>
          </a:p>
          <a:p>
            <a:endParaRPr lang="en-GB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A04BD1-A121-45A6-3BD5-527CE9F09DE9}"/>
              </a:ext>
            </a:extLst>
          </p:cNvPr>
          <p:cNvSpPr/>
          <p:nvPr/>
        </p:nvSpPr>
        <p:spPr>
          <a:xfrm>
            <a:off x="545973" y="4608095"/>
            <a:ext cx="4355745" cy="631669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D5777D-6CAE-1F5E-9418-621FC9F705C5}"/>
              </a:ext>
            </a:extLst>
          </p:cNvPr>
          <p:cNvSpPr/>
          <p:nvPr/>
        </p:nvSpPr>
        <p:spPr>
          <a:xfrm>
            <a:off x="5363429" y="1582153"/>
            <a:ext cx="5380771" cy="619625"/>
          </a:xfrm>
          <a:prstGeom prst="ellipse">
            <a:avLst/>
          </a:prstGeom>
          <a:noFill/>
          <a:ln w="25400">
            <a:solidFill>
              <a:srgbClr val="00B050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F8BC3FC-36FF-712A-EBBC-C92977892C5E}"/>
              </a:ext>
            </a:extLst>
          </p:cNvPr>
          <p:cNvSpPr/>
          <p:nvPr/>
        </p:nvSpPr>
        <p:spPr>
          <a:xfrm>
            <a:off x="5559131" y="1582153"/>
            <a:ext cx="5028658" cy="631669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7090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4E26D-5E2F-9621-4B16-ADF47732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9C0A05-8E30-5240-38F3-D9305DE69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83" y="365125"/>
            <a:ext cx="6462763" cy="5381747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A282F2-C286-71DB-9C28-E360EEF3A5C6}"/>
              </a:ext>
            </a:extLst>
          </p:cNvPr>
          <p:cNvSpPr/>
          <p:nvPr/>
        </p:nvSpPr>
        <p:spPr>
          <a:xfrm>
            <a:off x="5678906" y="2884394"/>
            <a:ext cx="6378540" cy="28624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56A76-7F26-39FC-6A53-3AC7232F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43B6A-B315-5E2E-0965-EE398184AF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Register handle to DUT</a:t>
            </a:r>
          </a:p>
          <a:p>
            <a:r>
              <a:rPr lang="en-GB" dirty="0"/>
              <a:t>Create a </a:t>
            </a:r>
            <a:r>
              <a:rPr lang="en-GB" dirty="0" err="1"/>
              <a:t>run_phase</a:t>
            </a:r>
            <a:endParaRPr lang="en-GB" dirty="0"/>
          </a:p>
          <a:p>
            <a:r>
              <a:rPr lang="en-GB" dirty="0"/>
              <a:t>Create a clock</a:t>
            </a:r>
          </a:p>
          <a:p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DE39B38-C67D-6C70-5B3A-5C7DF603C6EB}"/>
              </a:ext>
            </a:extLst>
          </p:cNvPr>
          <p:cNvSpPr/>
          <p:nvPr/>
        </p:nvSpPr>
        <p:spPr>
          <a:xfrm>
            <a:off x="5594683" y="2436395"/>
            <a:ext cx="5181600" cy="661737"/>
          </a:xfrm>
          <a:prstGeom prst="ellipse">
            <a:avLst/>
          </a:prstGeom>
          <a:noFill/>
          <a:ln w="25400">
            <a:solidFill>
              <a:srgbClr val="00B050"/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04E70D-3D5B-85E5-D23A-A5A26421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710" y="2460682"/>
            <a:ext cx="5054022" cy="65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31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7DCF-5CE4-0765-F260-6322288F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75FFF7-A7A8-6FCF-704C-D2EC9E9B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83" y="365125"/>
            <a:ext cx="6462763" cy="5381747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0F4777-9F28-1228-ABC7-1628880F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E8B7-D2F8-3021-485D-43FFF7A28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Register handle to DUT</a:t>
            </a:r>
          </a:p>
          <a:p>
            <a:r>
              <a:rPr lang="en-GB" dirty="0"/>
              <a:t>Create a </a:t>
            </a:r>
            <a:r>
              <a:rPr lang="en-GB" dirty="0" err="1"/>
              <a:t>run_phase</a:t>
            </a:r>
            <a:endParaRPr lang="en-GB" dirty="0"/>
          </a:p>
          <a:p>
            <a:r>
              <a:rPr lang="en-GB" dirty="0"/>
              <a:t>Create a clock</a:t>
            </a:r>
          </a:p>
          <a:p>
            <a:r>
              <a:rPr lang="en-GB" dirty="0"/>
              <a:t>Create a reset</a:t>
            </a:r>
          </a:p>
          <a:p>
            <a:r>
              <a:rPr lang="en-GB" dirty="0"/>
              <a:t>Create a timeout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8E496D-184E-3C50-A1E3-63E021156F1E}"/>
              </a:ext>
            </a:extLst>
          </p:cNvPr>
          <p:cNvSpPr/>
          <p:nvPr/>
        </p:nvSpPr>
        <p:spPr>
          <a:xfrm>
            <a:off x="5594683" y="3785347"/>
            <a:ext cx="6462762" cy="19615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55CA0A-6D6A-16C6-9D38-D7C5C5DE0AFA}"/>
              </a:ext>
            </a:extLst>
          </p:cNvPr>
          <p:cNvSpPr/>
          <p:nvPr/>
        </p:nvSpPr>
        <p:spPr>
          <a:xfrm>
            <a:off x="5534526" y="2789237"/>
            <a:ext cx="6575258" cy="1325563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33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5872-D9E2-970D-D511-3927FB89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8EBFD88-B337-CA22-FABF-A3BC90C97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83" y="365125"/>
            <a:ext cx="6462763" cy="5381747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FA459C-4D60-1A54-DA24-25719150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305A-B56B-196E-201A-CC8412E629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Register handle to DUT</a:t>
            </a:r>
          </a:p>
          <a:p>
            <a:r>
              <a:rPr lang="en-GB" dirty="0"/>
              <a:t>Create a </a:t>
            </a:r>
            <a:r>
              <a:rPr lang="en-GB" dirty="0" err="1"/>
              <a:t>run_phase</a:t>
            </a:r>
            <a:endParaRPr lang="en-GB" dirty="0"/>
          </a:p>
          <a:p>
            <a:r>
              <a:rPr lang="en-GB" dirty="0"/>
              <a:t>Create a clock</a:t>
            </a:r>
          </a:p>
          <a:p>
            <a:r>
              <a:rPr lang="en-GB" dirty="0"/>
              <a:t>Create a reset</a:t>
            </a:r>
          </a:p>
          <a:p>
            <a:r>
              <a:rPr lang="en-GB" dirty="0"/>
              <a:t>Create a timeout</a:t>
            </a:r>
          </a:p>
          <a:p>
            <a:r>
              <a:rPr lang="en-GB" dirty="0"/>
              <a:t>Add the reset check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E9BFDE-D1A4-AE68-29E0-22E1A350E546}"/>
              </a:ext>
            </a:extLst>
          </p:cNvPr>
          <p:cNvSpPr/>
          <p:nvPr/>
        </p:nvSpPr>
        <p:spPr>
          <a:xfrm>
            <a:off x="5482188" y="3825996"/>
            <a:ext cx="6575258" cy="1325563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190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07F5-58FC-0807-084E-9CDF5EE0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44E4B5-772B-0045-2320-1BAB76F1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335" y="957436"/>
            <a:ext cx="8708160" cy="308354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6708A7-882A-C37E-EC84-9231CB75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B400-E9BF-CC7D-7EE6-4398E9CCCA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Run the test</a:t>
            </a:r>
          </a:p>
          <a:p>
            <a:pPr lvl="1"/>
            <a:r>
              <a:rPr lang="en-GB" dirty="0"/>
              <a:t>make sim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D1D97E-063A-D271-22D7-B0B7E780FECA}"/>
              </a:ext>
            </a:extLst>
          </p:cNvPr>
          <p:cNvSpPr/>
          <p:nvPr/>
        </p:nvSpPr>
        <p:spPr>
          <a:xfrm>
            <a:off x="5041233" y="2932397"/>
            <a:ext cx="3174998" cy="572294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89EEA-AD73-FF3E-D02F-DAFE2E3AC636}"/>
              </a:ext>
            </a:extLst>
          </p:cNvPr>
          <p:cNvSpPr txBox="1"/>
          <p:nvPr/>
        </p:nvSpPr>
        <p:spPr>
          <a:xfrm>
            <a:off x="838200" y="4108450"/>
            <a:ext cx="1001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</a:rPr>
              <a:t>Error on </a:t>
            </a:r>
            <a:r>
              <a:rPr lang="en-GB" sz="2800" dirty="0" err="1">
                <a:latin typeface="Verdana" panose="020B0604030504040204" pitchFamily="34" charset="0"/>
                <a:ea typeface="Verdana" panose="020B0604030504040204" pitchFamily="34" charset="0"/>
              </a:rPr>
              <a:t>o_full</a:t>
            </a:r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</a:rPr>
              <a:t> due to width of variable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19E510B-53E9-AEE3-CC2D-9B09113D7E9D}"/>
              </a:ext>
            </a:extLst>
          </p:cNvPr>
          <p:cNvSpPr/>
          <p:nvPr/>
        </p:nvSpPr>
        <p:spPr>
          <a:xfrm>
            <a:off x="5561954" y="5033967"/>
            <a:ext cx="1296627" cy="4325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C7F2A0C-1D41-C339-07FF-EFABBBB02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71" y="4927324"/>
            <a:ext cx="4894681" cy="64588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63FA0E6-C02C-0C55-CFE6-912DBE0A9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983" y="4927324"/>
            <a:ext cx="4672433" cy="65068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DFCCF3CD-5E62-3FE9-4F0B-39A0E1932321}"/>
              </a:ext>
            </a:extLst>
          </p:cNvPr>
          <p:cNvSpPr/>
          <p:nvPr/>
        </p:nvSpPr>
        <p:spPr>
          <a:xfrm>
            <a:off x="1548754" y="5345116"/>
            <a:ext cx="1117600" cy="273051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CAAB8C-EF52-BADF-DB19-E8AAB0C81D3E}"/>
              </a:ext>
            </a:extLst>
          </p:cNvPr>
          <p:cNvSpPr/>
          <p:nvPr/>
        </p:nvSpPr>
        <p:spPr>
          <a:xfrm>
            <a:off x="7771755" y="5300153"/>
            <a:ext cx="1117600" cy="273051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61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35FC-BF01-63F5-F9CF-C2E137EE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868C-B087-F532-A4AA-73B76468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C5824-75CF-6728-3084-D27CD5A384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Create</a:t>
            </a:r>
          </a:p>
          <a:p>
            <a:pPr lvl="1"/>
            <a:r>
              <a:rPr lang="en-GB" dirty="0"/>
              <a:t>Agent</a:t>
            </a:r>
          </a:p>
          <a:p>
            <a:pPr lvl="1"/>
            <a:r>
              <a:rPr lang="en-GB" dirty="0"/>
              <a:t>Driver</a:t>
            </a:r>
          </a:p>
          <a:p>
            <a:pPr lvl="1"/>
            <a:r>
              <a:rPr lang="en-GB" dirty="0"/>
              <a:t>Sequencer</a:t>
            </a:r>
          </a:p>
          <a:p>
            <a:r>
              <a:rPr lang="en-GB" dirty="0"/>
              <a:t>Create a random sequence</a:t>
            </a:r>
          </a:p>
          <a:p>
            <a:r>
              <a:rPr lang="en-GB" dirty="0"/>
              <a:t>Create a monitor with built in checks</a:t>
            </a:r>
          </a:p>
        </p:txBody>
      </p:sp>
    </p:spTree>
    <p:extLst>
      <p:ext uri="{BB962C8B-B14F-4D97-AF65-F5344CB8AC3E}">
        <p14:creationId xmlns:p14="http://schemas.microsoft.com/office/powerpoint/2010/main" val="156766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A24C7-3470-53CA-C192-63714CA7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05E2-0183-6B23-05D0-A1F310A5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7F05-189E-874B-B20A-F93C31301A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Create agent and driver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11F09-B674-C95B-04EE-89A0D2018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4391"/>
            <a:ext cx="4737472" cy="3283331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66E40-F584-1AB0-046F-303D22145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985" y="426994"/>
            <a:ext cx="5264148" cy="5270728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85834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310E6-6648-D5FB-6AE7-502B313D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9BBA-CCB0-78FF-3639-F294FCEC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55595-99DD-571B-1522-B393D7FE28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Create </a:t>
            </a:r>
          </a:p>
          <a:p>
            <a:pPr lvl="1"/>
            <a:r>
              <a:rPr lang="en-GB" dirty="0"/>
              <a:t>Agent</a:t>
            </a:r>
          </a:p>
          <a:p>
            <a:pPr lvl="1"/>
            <a:r>
              <a:rPr lang="en-GB" dirty="0"/>
              <a:t>Driver</a:t>
            </a:r>
          </a:p>
          <a:p>
            <a:pPr lvl="1"/>
            <a:r>
              <a:rPr lang="en-GB" dirty="0"/>
              <a:t>Sequencer</a:t>
            </a:r>
          </a:p>
          <a:p>
            <a:r>
              <a:rPr lang="en-GB" dirty="0"/>
              <a:t>Create a random sequence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2EC656-BE12-8920-8E3D-CBE82C8A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863" y="1290636"/>
            <a:ext cx="6898513" cy="3967163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454813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EEA47-DF7D-D6A9-01C8-FEC9E610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FC3C-C469-F120-898F-ACF169AB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DB50-5EFF-DBDC-BB9C-5EE0C25F62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Create</a:t>
            </a:r>
          </a:p>
          <a:p>
            <a:pPr lvl="1"/>
            <a:r>
              <a:rPr lang="en-GB" dirty="0"/>
              <a:t>Agent</a:t>
            </a:r>
          </a:p>
          <a:p>
            <a:pPr lvl="1"/>
            <a:r>
              <a:rPr lang="en-GB" dirty="0"/>
              <a:t>Driver</a:t>
            </a:r>
          </a:p>
          <a:p>
            <a:pPr lvl="1"/>
            <a:r>
              <a:rPr lang="en-GB" dirty="0"/>
              <a:t>Sequencer</a:t>
            </a:r>
          </a:p>
          <a:p>
            <a:r>
              <a:rPr lang="en-GB" dirty="0"/>
              <a:t>Create a random sequence</a:t>
            </a:r>
          </a:p>
          <a:p>
            <a:r>
              <a:rPr lang="en-GB" dirty="0"/>
              <a:t>Create a monitor with built in checks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EEE302-A78D-ECEA-CB52-7F9D7181B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319" y="1606216"/>
            <a:ext cx="6434693" cy="3645568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251323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34886-4C1C-3E42-EB47-E483FCC2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28D8-123B-3227-E7A8-F17D9142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B52F3-0D3C-70EB-EDEF-E0CEE7C41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77627"/>
          </a:xfrm>
        </p:spPr>
        <p:txBody>
          <a:bodyPr/>
          <a:lstStyle/>
          <a:p>
            <a:r>
              <a:rPr lang="en-GB" dirty="0"/>
              <a:t>make sim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F09BD-38B8-89CE-2D4C-5F40B5A9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06" y="2403252"/>
            <a:ext cx="9944388" cy="1691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151887-740B-3F2E-1ADF-7662D0731E08}"/>
              </a:ext>
            </a:extLst>
          </p:cNvPr>
          <p:cNvSpPr txBox="1"/>
          <p:nvPr/>
        </p:nvSpPr>
        <p:spPr>
          <a:xfrm>
            <a:off x="838200" y="4359464"/>
            <a:ext cx="8594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</a:rPr>
              <a:t>FIFO never fills as we pop immediately</a:t>
            </a:r>
          </a:p>
        </p:txBody>
      </p:sp>
    </p:spTree>
    <p:extLst>
      <p:ext uri="{BB962C8B-B14F-4D97-AF65-F5344CB8AC3E}">
        <p14:creationId xmlns:p14="http://schemas.microsoft.com/office/powerpoint/2010/main" val="297534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447B-39B1-8F1B-C1DF-1FFAD635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086E-A584-AF55-98C9-5703A55E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47CE-66E2-220D-43EA-6BED24129E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Add rate limiters to driver</a:t>
            </a:r>
          </a:p>
          <a:p>
            <a:r>
              <a:rPr lang="en-GB" dirty="0"/>
              <a:t>Increase number of items</a:t>
            </a:r>
          </a:p>
        </p:txBody>
      </p:sp>
    </p:spTree>
    <p:extLst>
      <p:ext uri="{BB962C8B-B14F-4D97-AF65-F5344CB8AC3E}">
        <p14:creationId xmlns:p14="http://schemas.microsoft.com/office/powerpoint/2010/main" val="474615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1EAD9-8CAA-47C9-77DC-2DE63FA2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3087C-89EB-31AA-9709-BE6FEA3A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B0074-E359-51F4-E58B-A499509881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Add rate limiters to driver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29A23-33A3-C8FE-9F5B-14CF54CE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812753"/>
            <a:ext cx="5752315" cy="483280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32A411A-6A37-49A4-8D53-FAB4E35B7CE8}"/>
              </a:ext>
            </a:extLst>
          </p:cNvPr>
          <p:cNvSpPr/>
          <p:nvPr/>
        </p:nvSpPr>
        <p:spPr>
          <a:xfrm>
            <a:off x="6417941" y="1302497"/>
            <a:ext cx="5018409" cy="45720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6EBFD6-1C7E-0FF4-D86B-AEAB5D7DD252}"/>
              </a:ext>
            </a:extLst>
          </p:cNvPr>
          <p:cNvSpPr/>
          <p:nvPr/>
        </p:nvSpPr>
        <p:spPr>
          <a:xfrm>
            <a:off x="6559549" y="2559797"/>
            <a:ext cx="3060701" cy="65405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63D5D3-E871-C092-F7BD-64133426716C}"/>
              </a:ext>
            </a:extLst>
          </p:cNvPr>
          <p:cNvSpPr/>
          <p:nvPr/>
        </p:nvSpPr>
        <p:spPr>
          <a:xfrm>
            <a:off x="6417941" y="3459116"/>
            <a:ext cx="3060701" cy="65405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534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F127-0BF8-565F-3063-660476DB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61D4-AD3F-7E57-E99D-770FEDEF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2DA6B-9141-4B70-45C9-058BA1235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2616355"/>
            <a:ext cx="10299700" cy="162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614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7AA5-B418-157D-515A-00188A08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4EDC3A-33E2-F9F7-A086-554314DB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Tutorial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61660-8103-174F-E31B-1CD6EEC7E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ALU</a:t>
            </a:r>
          </a:p>
        </p:txBody>
      </p:sp>
    </p:spTree>
    <p:extLst>
      <p:ext uri="{BB962C8B-B14F-4D97-AF65-F5344CB8AC3E}">
        <p14:creationId xmlns:p14="http://schemas.microsoft.com/office/powerpoint/2010/main" val="1067792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FA1477-6E2C-1A8D-6483-33AFB798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Under 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04C9FB-C13C-4032-C7F8-E80DF628F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751320"/>
          </a:xfrm>
        </p:spPr>
        <p:txBody>
          <a:bodyPr/>
          <a:lstStyle/>
          <a:p>
            <a:r>
              <a:rPr lang="en-GB" dirty="0"/>
              <a:t>Combinatorial ALU unit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E9C45D-CF63-5018-7D39-BFB5E429A60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2342088"/>
          <a:ext cx="5181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83949364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41697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0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0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10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0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39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7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XOR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5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88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3’b111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ILLEGAL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490261"/>
                  </a:ext>
                </a:extLst>
              </a:tr>
            </a:tbl>
          </a:graphicData>
        </a:graphic>
      </p:graphicFrame>
      <p:pic>
        <p:nvPicPr>
          <p:cNvPr id="9" name="Picture 8" descr="A diagram of a blue letter&#10;&#10;AI-generated content may be incorrect.">
            <a:extLst>
              <a:ext uri="{FF2B5EF4-FFF2-40B4-BE49-F238E27FC236}">
                <a16:creationId xmlns:a16="http://schemas.microsoft.com/office/drawing/2014/main" id="{FC8DB1DE-DDB2-D13A-22F7-0087673A6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186" y="2201285"/>
            <a:ext cx="3925887" cy="247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55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7C54-D186-3CD8-4304-AD573A1F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02940-FEA4-D1AD-A48A-BCBDF7B74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/>
          <a:lstStyle/>
          <a:p>
            <a:r>
              <a:rPr lang="en-GB" dirty="0"/>
              <a:t>Using a template create testbench with</a:t>
            </a:r>
          </a:p>
          <a:p>
            <a:pPr lvl="1"/>
            <a:r>
              <a:rPr lang="en-GB" dirty="0"/>
              <a:t>Sequence / Sequence Item</a:t>
            </a:r>
          </a:p>
          <a:p>
            <a:pPr lvl="1"/>
            <a:r>
              <a:rPr lang="en-GB" dirty="0"/>
              <a:t>Sequencer</a:t>
            </a:r>
          </a:p>
          <a:p>
            <a:pPr lvl="1"/>
            <a:r>
              <a:rPr lang="en-GB" dirty="0"/>
              <a:t>Driver</a:t>
            </a:r>
          </a:p>
          <a:p>
            <a:pPr lvl="1"/>
            <a:r>
              <a:rPr lang="en-GB" dirty="0"/>
              <a:t>Model</a:t>
            </a:r>
          </a:p>
          <a:p>
            <a:pPr lvl="1"/>
            <a:r>
              <a:rPr lang="en-GB" dirty="0"/>
              <a:t>Scoreboard</a:t>
            </a:r>
          </a:p>
          <a:p>
            <a:r>
              <a:rPr lang="en-GB" dirty="0"/>
              <a:t>Visualize</a:t>
            </a:r>
          </a:p>
          <a:p>
            <a:pPr lvl="1"/>
            <a:r>
              <a:rPr lang="en-GB" dirty="0"/>
              <a:t>Tree</a:t>
            </a:r>
          </a:p>
          <a:p>
            <a:pPr lvl="1"/>
            <a:r>
              <a:rPr lang="en-GB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2557616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83C6-2B6E-969F-52A5-693BDCE0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9B3B3-5DD7-8C84-CCBB-E69A33363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9B93-60F1-0AD3-5838-FA2BE5D406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Using a template create testbench with</a:t>
            </a:r>
          </a:p>
          <a:p>
            <a:pPr lvl="1"/>
            <a:r>
              <a:rPr lang="en-GB" dirty="0"/>
              <a:t>Sequence / Sequence Item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94A61-5828-906C-458D-2F9745AA72D2}"/>
              </a:ext>
            </a:extLst>
          </p:cNvPr>
          <p:cNvSpPr txBox="1"/>
          <p:nvPr/>
        </p:nvSpPr>
        <p:spPr>
          <a:xfrm>
            <a:off x="592555" y="5252243"/>
            <a:ext cx="11006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</a:rPr>
              <a:t>No need for sequence or sequencer – built into template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73F7CB-C815-227E-36C6-31D2BDE8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98" y="3212040"/>
            <a:ext cx="9726382" cy="190526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370962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2B0F-254C-97D9-793F-5AC338C9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C057-BBEF-4A3A-819D-5A13FF1C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AD2F0-D90B-06CE-793B-80C2C9ABAE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Using a template create testbench with</a:t>
            </a:r>
          </a:p>
          <a:p>
            <a:pPr lvl="1"/>
            <a:r>
              <a:rPr lang="en-GB" dirty="0"/>
              <a:t>Driver</a:t>
            </a:r>
          </a:p>
          <a:p>
            <a:pPr lvl="1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57D29F-2A00-76A1-8C55-FBC3EC55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182"/>
          <a:stretch>
            <a:fillRect/>
          </a:stretch>
        </p:blipFill>
        <p:spPr>
          <a:xfrm>
            <a:off x="6716988" y="365125"/>
            <a:ext cx="4636812" cy="5317778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243893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2D1B8-D5DF-5A8E-EE6B-51EACA84A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7DAE-6A06-91A2-E2E4-E215F83C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8D1B-1000-1FDC-F0F1-E72DE2AF3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351338"/>
          </a:xfrm>
        </p:spPr>
        <p:txBody>
          <a:bodyPr/>
          <a:lstStyle/>
          <a:p>
            <a:r>
              <a:rPr lang="en-GB" dirty="0"/>
              <a:t>Using a template create testbench with</a:t>
            </a:r>
          </a:p>
          <a:p>
            <a:pPr lvl="1"/>
            <a:r>
              <a:rPr lang="en-GB" dirty="0"/>
              <a:t>Model</a:t>
            </a:r>
          </a:p>
          <a:p>
            <a:pPr lvl="1"/>
            <a:r>
              <a:rPr lang="en-GB" dirty="0"/>
              <a:t>Scoreboard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B6BD2-D4D4-C8F6-FBBA-6410B70AE6A1}"/>
              </a:ext>
            </a:extLst>
          </p:cNvPr>
          <p:cNvSpPr txBox="1"/>
          <p:nvPr/>
        </p:nvSpPr>
        <p:spPr>
          <a:xfrm>
            <a:off x="592555" y="5252243"/>
            <a:ext cx="11006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</a:rPr>
              <a:t>No need for scoreboard– built into template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A56C8-44EA-290F-C363-855A0B05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620" y="365125"/>
            <a:ext cx="6228701" cy="4851663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202171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E5E1-CEA9-99DA-C14C-06BB7632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0356-E381-7DE2-3E94-C3C7A893E5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make run</a:t>
            </a:r>
          </a:p>
          <a:p>
            <a:pPr lvl="1"/>
            <a:r>
              <a:rPr lang="en-GB" dirty="0"/>
              <a:t>$error – opcode[7] is illegal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DF1CE4-3C59-B49B-4E1A-46B225DA03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12000" y="3052779"/>
            <a:ext cx="10568000" cy="1479518"/>
          </a:xfrm>
          <a:effectLst>
            <a:softEdge rad="31750"/>
          </a:effec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8EC48D6-32D7-4619-4007-36C6D1E8BF6B}"/>
              </a:ext>
            </a:extLst>
          </p:cNvPr>
          <p:cNvSpPr/>
          <p:nvPr/>
        </p:nvSpPr>
        <p:spPr>
          <a:xfrm>
            <a:off x="590549" y="3924300"/>
            <a:ext cx="4997451" cy="65405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18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AC5E-27CB-CEB5-7EBD-FAC95CC0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BD572F-561A-6BD0-CDFA-1D8F648F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4" y="1814239"/>
            <a:ext cx="9735909" cy="2505425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3BDA10-88FB-40E3-B45E-759B1000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ABA378-EF01-A164-3A69-AAF330B4CAB6}"/>
              </a:ext>
            </a:extLst>
          </p:cNvPr>
          <p:cNvSpPr/>
          <p:nvPr/>
        </p:nvSpPr>
        <p:spPr>
          <a:xfrm>
            <a:off x="1228044" y="3712069"/>
            <a:ext cx="7555009" cy="654050"/>
          </a:xfrm>
          <a:prstGeom prst="ellipse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94F4A-5079-665D-17EA-CD7DD9F0FCFE}"/>
              </a:ext>
            </a:extLst>
          </p:cNvPr>
          <p:cNvSpPr txBox="1"/>
          <p:nvPr/>
        </p:nvSpPr>
        <p:spPr>
          <a:xfrm>
            <a:off x="2124635" y="4973714"/>
            <a:ext cx="7942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</a:rPr>
              <a:t>Add constraint to avoid illegal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10926770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231B-8CE9-272E-EF4F-A049EE17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2578C-567A-A0F0-35D5-92278798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0A8A-4750-4B44-2391-984BDB99B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Visualize</a:t>
            </a:r>
          </a:p>
          <a:p>
            <a:pPr lvl="1"/>
            <a:r>
              <a:rPr lang="en-GB" dirty="0"/>
              <a:t>True</a:t>
            </a:r>
          </a:p>
          <a:p>
            <a:pPr lvl="1"/>
            <a:r>
              <a:rPr lang="en-GB" dirty="0"/>
              <a:t>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DE896E-18B3-84F6-AC94-5D4ED3FB01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05023" y="1336790"/>
            <a:ext cx="4084584" cy="699626"/>
          </a:xfrm>
          <a:effectLst>
            <a:softEdge rad="3175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54AB0C-EB05-490F-3B05-A029C2218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231" y="2107290"/>
            <a:ext cx="4110055" cy="132171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C7C9F8-5FC1-2BA5-6572-6B1D8EF83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131" y="3526928"/>
            <a:ext cx="8567736" cy="204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46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3427-6CD8-BB12-8689-BA5B3D3F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E4D3-7AE3-C295-E348-26C198880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43E0-F3EE-FFFA-85B9-BD955DFD4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Add constraints to a and b to generate more interesting values</a:t>
            </a:r>
          </a:p>
        </p:txBody>
      </p:sp>
    </p:spTree>
    <p:extLst>
      <p:ext uri="{BB962C8B-B14F-4D97-AF65-F5344CB8AC3E}">
        <p14:creationId xmlns:p14="http://schemas.microsoft.com/office/powerpoint/2010/main" val="1281290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A3D9-97D7-861E-4A3E-1242D8D4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55A0-5D5B-F56A-9F85-F986F8D7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A13F-2347-1B34-05B2-EFEC11F94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616739" cy="4351338"/>
          </a:xfrm>
        </p:spPr>
        <p:txBody>
          <a:bodyPr/>
          <a:lstStyle/>
          <a:p>
            <a:r>
              <a:rPr lang="en-GB" dirty="0"/>
              <a:t>Add constraints to a and b to generate more interesting values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6999F59-26A8-CF3D-E4D6-22EB30F641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8200" y="2998694"/>
            <a:ext cx="10616740" cy="2259106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014143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65AE8-94D9-EF08-73A1-CC835B0A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A5994-EF8D-A90D-65C2-B9CB89DA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5496-7096-D695-89A4-8E6FFBC788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Add functional coverage</a:t>
            </a:r>
          </a:p>
          <a:p>
            <a:r>
              <a:rPr lang="en-GB" dirty="0"/>
              <a:t>Generate coverage report</a:t>
            </a:r>
          </a:p>
        </p:txBody>
      </p:sp>
    </p:spTree>
    <p:extLst>
      <p:ext uri="{BB962C8B-B14F-4D97-AF65-F5344CB8AC3E}">
        <p14:creationId xmlns:p14="http://schemas.microsoft.com/office/powerpoint/2010/main" val="313686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73E63-3F06-1EBD-01CE-9E3209E42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F81B-7A7D-26A7-0D99-4BFCC618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688F-B034-211A-7F80-C217ACC732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Add functional coverage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710D5A-6712-CD84-2881-FB06F24B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65125"/>
            <a:ext cx="5848579" cy="530281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749804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9BDE-296C-6BE9-A617-7B5B3B5D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984B-7344-1872-096A-EC445DF0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9EA5-B514-6D67-57BC-75972AEF0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716979" cy="4351338"/>
          </a:xfrm>
        </p:spPr>
        <p:txBody>
          <a:bodyPr/>
          <a:lstStyle/>
          <a:p>
            <a:r>
              <a:rPr lang="en-GB" dirty="0"/>
              <a:t>Add functional coverage</a:t>
            </a:r>
          </a:p>
          <a:p>
            <a:r>
              <a:rPr lang="en-GB" dirty="0"/>
              <a:t>Generate coverage report</a:t>
            </a:r>
          </a:p>
          <a:p>
            <a:pPr lvl="1"/>
            <a:r>
              <a:rPr lang="en-GB" dirty="0"/>
              <a:t> </a:t>
            </a:r>
            <a:r>
              <a:rPr lang="en-GB" dirty="0" err="1"/>
              <a:t>avl</a:t>
            </a:r>
            <a:r>
              <a:rPr lang="en-GB" dirty="0"/>
              <a:t>-coverage-analysis --path 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3BD205-AE61-211C-82BF-3D1B0E2B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9" y="3429000"/>
            <a:ext cx="12012701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8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B282-1A1B-AB87-3ABA-4DA9ACD2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1858F9-1205-FA96-5F43-1D7486A0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and Answers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1F52E-1583-5839-2E83-8B6FAC658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68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51D1-04EF-A1E3-4FDA-8B2B386F5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A0A67B-A714-7086-445F-7A52B306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385DE-6822-3EFB-1A92-C31C0900E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https://github.com/projectapheleia/avl</a:t>
            </a:r>
            <a:endParaRPr lang="en-GB" dirty="0"/>
          </a:p>
          <a:p>
            <a:r>
              <a:rPr lang="en-GB" dirty="0">
                <a:hlinkClick r:id="rId3"/>
              </a:rPr>
              <a:t>https://avl-core.readthedocs.io/en/latest/index.html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512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5AB7FE4B-CE97-4E74-9771-C3FDE9C05F2F}" vid="{630D9976-BEC0-4EFC-B7E0-607FFAF123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838ba7-c38c-416d-a793-1de07a190ebd}" enabled="0" method="" siteId="{9c838ba7-c38c-416d-a793-1de07a190eb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apheleia_template</Template>
  <TotalTime>562</TotalTime>
  <Words>540</Words>
  <Application>Microsoft Macintosh PowerPoint</Application>
  <PresentationFormat>Widescreen</PresentationFormat>
  <Paragraphs>162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Verdana</vt:lpstr>
      <vt:lpstr>Office Theme</vt:lpstr>
      <vt:lpstr>AVL Tutorials</vt:lpstr>
      <vt:lpstr>Simple Tutorials</vt:lpstr>
      <vt:lpstr>Simple Tutorials</vt:lpstr>
      <vt:lpstr>Simple Tutorials</vt:lpstr>
      <vt:lpstr>Simple Tutorials</vt:lpstr>
      <vt:lpstr>Advanced Tutorials</vt:lpstr>
      <vt:lpstr>Tutorial 1</vt:lpstr>
      <vt:lpstr>Design Under Test</vt:lpstr>
      <vt:lpstr>Phase 0</vt:lpstr>
      <vt:lpstr>Phase 0</vt:lpstr>
      <vt:lpstr>Phase 0</vt:lpstr>
      <vt:lpstr>Phase 0</vt:lpstr>
      <vt:lpstr>Phase 0</vt:lpstr>
      <vt:lpstr>Phase 0</vt:lpstr>
      <vt:lpstr>Phase 1</vt:lpstr>
      <vt:lpstr>Phase 1</vt:lpstr>
      <vt:lpstr>Phase 1</vt:lpstr>
      <vt:lpstr>Phase 1</vt:lpstr>
      <vt:lpstr>Phase 1</vt:lpstr>
      <vt:lpstr>Phase 2</vt:lpstr>
      <vt:lpstr>Phase 2</vt:lpstr>
      <vt:lpstr>Phase 2</vt:lpstr>
      <vt:lpstr>Tutorial 2</vt:lpstr>
      <vt:lpstr>Design Under Test</vt:lpstr>
      <vt:lpstr>Phase 0</vt:lpstr>
      <vt:lpstr>Phase 0</vt:lpstr>
      <vt:lpstr>Phase 0</vt:lpstr>
      <vt:lpstr>Phase 0</vt:lpstr>
      <vt:lpstr>Phase 0</vt:lpstr>
      <vt:lpstr>Phase 0</vt:lpstr>
      <vt:lpstr>Phase 0</vt:lpstr>
      <vt:lpstr>Phase 1</vt:lpstr>
      <vt:lpstr>Phase 1</vt:lpstr>
      <vt:lpstr>Phase 2</vt:lpstr>
      <vt:lpstr>Phase 2</vt:lpstr>
      <vt:lpstr>Phase 2</vt:lpstr>
      <vt:lpstr>Questions and Answers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Bond</dc:creator>
  <cp:lastModifiedBy>Andy Bond</cp:lastModifiedBy>
  <cp:revision>3</cp:revision>
  <dcterms:created xsi:type="dcterms:W3CDTF">2025-06-21T09:09:29Z</dcterms:created>
  <dcterms:modified xsi:type="dcterms:W3CDTF">2026-01-27T14:49:08Z</dcterms:modified>
</cp:coreProperties>
</file>